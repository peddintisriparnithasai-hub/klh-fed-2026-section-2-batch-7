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9416E"/>
                </a:solidFill>
              </a:defRPr>
            </a:pPr>
            <a:r>
              <a:t>RISC-V LOOP UNROLLING</a:t>
            </a:r>
            <a:br/>
            <a:r>
              <a:t>STRATEGY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46E78"/>
                </a:solidFill>
              </a:defRPr>
            </a:pPr>
            <a:r>
              <a:t>Compiler Optimization Using RISC-V and Logisim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9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EEEA8-33EC-758C-7B19-25EFFEAB7852}"/>
              </a:ext>
            </a:extLst>
          </p:cNvPr>
          <p:cNvSpPr txBox="1"/>
          <p:nvPr/>
        </p:nvSpPr>
        <p:spPr>
          <a:xfrm>
            <a:off x="4487333" y="4106334"/>
            <a:ext cx="26332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Presented by 2620030312</a:t>
            </a:r>
          </a:p>
          <a:p>
            <a:r>
              <a:rPr lang="en-US" dirty="0"/>
              <a:t>                        2620030316</a:t>
            </a:r>
          </a:p>
          <a:p>
            <a:r>
              <a:rPr lang="en-US" dirty="0"/>
              <a:t>                        2620030321</a:t>
            </a:r>
          </a:p>
          <a:p>
            <a:r>
              <a:rPr lang="en-US" dirty="0"/>
              <a:t>Group=7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16E"/>
                </a:solidFill>
              </a:defRPr>
            </a:pPr>
            <a:r>
              <a:t>2. INTRODUCTION TO RISC-V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6858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A32"/>
                </a:solidFill>
              </a:defRPr>
            </a:pPr>
            <a:r>
              <a:t>RISC-V is an open-standard Instruction Set Architecture (ISA) based on the RISC design philosophy.</a:t>
            </a:r>
          </a:p>
          <a:p>
            <a:pPr>
              <a:spcAft>
                <a:spcPts val="800"/>
              </a:spcAft>
              <a:defRPr sz="1700">
                <a:solidFill>
                  <a:srgbClr val="232A32"/>
                </a:solidFill>
              </a:defRPr>
            </a:pPr>
            <a:r>
              <a:t>An ISA defines instructions, registers, data types, memory-access rules, and other processor behaviors expected by software.</a:t>
            </a:r>
          </a:p>
          <a:p>
            <a:pPr>
              <a:spcAft>
                <a:spcPts val="800"/>
              </a:spcAft>
              <a:defRPr sz="1700">
                <a:solidFill>
                  <a:srgbClr val="232A32"/>
                </a:solidFill>
              </a:defRPr>
            </a:pPr>
            <a:r>
              <a:t>RISC-V is not a specific processor; it is an instruction-set specification that can be implemented by different processor designs.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188720"/>
            <a:ext cx="1645920" cy="100584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OPEN &amp; FREELY</a:t>
            </a:r>
            <a:br/>
            <a:r>
              <a:t>IMPLEMENTABLE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188720"/>
            <a:ext cx="1645920" cy="100584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LOAD /</a:t>
            </a:r>
            <a:br/>
            <a:r>
              <a:t>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560320"/>
            <a:ext cx="1645920" cy="100584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GENERAL-PURPOSE</a:t>
            </a:r>
            <a:br/>
            <a:r>
              <a:t>REGISTERS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2560320"/>
            <a:ext cx="1645920" cy="100584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MODULAR</a:t>
            </a:r>
            <a:br/>
            <a:r>
              <a:t>EXTENSIONS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A32"/>
                </a:solidFill>
              </a:defRPr>
            </a:pPr>
            <a:r>
              <a:t>RISC-based simple instruction design</a:t>
            </a:r>
          </a:p>
          <a:p>
            <a:pPr>
              <a:spcAft>
                <a:spcPts val="800"/>
              </a:spcAft>
              <a:defRPr sz="1700">
                <a:solidFill>
                  <a:srgbClr val="232A32"/>
                </a:solidFill>
              </a:defRPr>
            </a:pPr>
            <a:r>
              <a:t>Different implementations can have different pipelines, caches, and execution resources.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9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16E"/>
                </a:solidFill>
              </a:defRPr>
            </a:pPr>
            <a:r>
              <a:t>3. WHAT IS LOOP UNROLLING?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05840"/>
            <a:ext cx="2743200" cy="50292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A32"/>
                </a:solidFill>
              </a:defRPr>
            </a:pPr>
            <a:r>
              <a:t>NORMAL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645920"/>
            <a:ext cx="2103120" cy="41148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LOAD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11680" y="2057400"/>
            <a:ext cx="0" cy="155448"/>
          </a:xfrm>
          <a:prstGeom prst="line">
            <a:avLst/>
          </a:prstGeom>
          <a:ln w="25400">
            <a:solidFill>
              <a:srgbClr val="367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60120" y="2212848"/>
            <a:ext cx="2103120" cy="41148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ADD value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11680" y="2624328"/>
            <a:ext cx="0" cy="155448"/>
          </a:xfrm>
          <a:prstGeom prst="line">
            <a:avLst/>
          </a:prstGeom>
          <a:ln w="25400">
            <a:solidFill>
              <a:srgbClr val="367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60120" y="2779776"/>
            <a:ext cx="2103120" cy="41148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STORE 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3191256"/>
            <a:ext cx="0" cy="155448"/>
          </a:xfrm>
          <a:prstGeom prst="line">
            <a:avLst/>
          </a:prstGeom>
          <a:ln w="25400">
            <a:solidFill>
              <a:srgbClr val="367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60120" y="3346704"/>
            <a:ext cx="2103120" cy="41148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INCREMENT counter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3758183"/>
            <a:ext cx="0" cy="155448"/>
          </a:xfrm>
          <a:prstGeom prst="line">
            <a:avLst/>
          </a:prstGeom>
          <a:ln w="25400">
            <a:solidFill>
              <a:srgbClr val="367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3913632"/>
            <a:ext cx="2103120" cy="41148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BRANCH → REPEAT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005840"/>
            <a:ext cx="2926080" cy="50292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A32"/>
                </a:solidFill>
              </a:defRPr>
            </a:pPr>
            <a:r>
              <a:t>4× UNROLLED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645920"/>
            <a:ext cx="2286000" cy="41148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LOAD → ADD → STORE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2057400"/>
            <a:ext cx="0" cy="155448"/>
          </a:xfrm>
          <a:prstGeom prst="line">
            <a:avLst/>
          </a:prstGeom>
          <a:ln w="25400">
            <a:solidFill>
              <a:srgbClr val="367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26280" y="2212848"/>
            <a:ext cx="2286000" cy="41148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LOAD → ADD → STORE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0" y="2624328"/>
            <a:ext cx="0" cy="155448"/>
          </a:xfrm>
          <a:prstGeom prst="line">
            <a:avLst/>
          </a:prstGeom>
          <a:ln w="25400">
            <a:solidFill>
              <a:srgbClr val="367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26280" y="2779776"/>
            <a:ext cx="2286000" cy="41148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LOAD → ADD → STORE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0" y="3191256"/>
            <a:ext cx="0" cy="155448"/>
          </a:xfrm>
          <a:prstGeom prst="line">
            <a:avLst/>
          </a:prstGeom>
          <a:ln w="25400">
            <a:solidFill>
              <a:srgbClr val="367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26280" y="3346704"/>
            <a:ext cx="2286000" cy="41148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LOAD → ADD → STORE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0" y="3758183"/>
            <a:ext cx="0" cy="155448"/>
          </a:xfrm>
          <a:prstGeom prst="line">
            <a:avLst/>
          </a:prstGeom>
          <a:ln w="25400">
            <a:solidFill>
              <a:srgbClr val="367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26280" y="3913632"/>
            <a:ext cx="2286000" cy="41148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LOOP CONTROL → BRANCH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097280"/>
            <a:ext cx="2560320" cy="548640"/>
          </a:xfrm>
          <a:prstGeom prst="roundRect">
            <a:avLst/>
          </a:prstGeom>
          <a:solidFill>
            <a:srgbClr val="FFF5E1"/>
          </a:solidFill>
          <a:ln>
            <a:solidFill>
              <a:srgbClr val="E1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A32"/>
                </a:solidFill>
              </a:defRPr>
            </a:pPr>
            <a:r>
              <a:t>KEY IDEA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9202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A32"/>
                </a:solidFill>
              </a:defRPr>
            </a:pPr>
            <a:r>
              <a:t>Replicate the loop body multiple times.</a:t>
            </a:r>
          </a:p>
          <a:p>
            <a:pPr>
              <a:spcAft>
                <a:spcPts val="800"/>
              </a:spcAft>
              <a:defRPr sz="1600">
                <a:solidFill>
                  <a:srgbClr val="232A32"/>
                </a:solidFill>
              </a:defRPr>
            </a:pPr>
            <a:r>
              <a:t>Execute multiple original iterations in one new loop iteration.</a:t>
            </a:r>
          </a:p>
          <a:p>
            <a:pPr>
              <a:spcAft>
                <a:spcPts val="800"/>
              </a:spcAft>
              <a:defRPr sz="1600">
                <a:solidFill>
                  <a:srgbClr val="232A32"/>
                </a:solidFill>
              </a:defRPr>
            </a:pPr>
            <a:r>
              <a:t>Reduce how often loop-control instructions are executed.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212080"/>
            <a:ext cx="10241280" cy="59436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32A32"/>
                </a:solidFill>
              </a:defRPr>
            </a:pPr>
            <a:r>
              <a:t>4× unrolling performs four original iterations before returning to loop control.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9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16E"/>
                </a:solidFill>
              </a:defRPr>
            </a:pPr>
            <a:r>
              <a:t>4. UNROLLING FACTOR AND 4× UNROLLING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645920" cy="91440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A32"/>
                </a:solidFill>
              </a:defRPr>
            </a:pPr>
            <a:r>
              <a:t>1×</a:t>
            </a:r>
            <a:br/>
            <a:r>
              <a:t>Original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143000"/>
            <a:ext cx="1645920" cy="91440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A32"/>
                </a:solidFill>
              </a:defRPr>
            </a:pPr>
            <a:r>
              <a:t>2×</a:t>
            </a:r>
            <a:br/>
            <a:r>
              <a:t>2 copies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143000"/>
            <a:ext cx="1645920" cy="91440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A32"/>
                </a:solidFill>
              </a:defRPr>
            </a:pPr>
            <a:r>
              <a:t>4×</a:t>
            </a:r>
            <a:br/>
            <a:r>
              <a:t>4 copies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43000"/>
            <a:ext cx="1645920" cy="91440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A32"/>
                </a:solidFill>
              </a:defRPr>
            </a:pPr>
            <a:r>
              <a:t>8×</a:t>
            </a:r>
            <a:br/>
            <a:r>
              <a:t>8 copies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143000"/>
            <a:ext cx="1645920" cy="91440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A32"/>
                </a:solidFill>
              </a:defRPr>
            </a:pPr>
            <a:r>
              <a:t>16×</a:t>
            </a:r>
            <a:br/>
            <a:r>
              <a:t>16 copies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2468880" cy="50292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32A32"/>
                </a:solidFill>
              </a:defRPr>
            </a:pPr>
            <a:r>
              <a:t>4× UNROLLED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00400"/>
            <a:ext cx="1920240" cy="32004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a[i] +=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11880"/>
            <a:ext cx="1920240" cy="32004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a[i+1] +=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23360"/>
            <a:ext cx="1920240" cy="32004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a[i+2] +=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34840"/>
            <a:ext cx="1920240" cy="32004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a[i+3] +=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846320"/>
            <a:ext cx="1920240" cy="32004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i = i + 4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257800"/>
            <a:ext cx="1920240" cy="32004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Check condition → Branch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743200"/>
            <a:ext cx="2468880" cy="68580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32A32"/>
                </a:solidFill>
              </a:defRPr>
            </a:pPr>
            <a:r>
              <a:t>1 branch / 1 element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743200"/>
            <a:ext cx="2651760" cy="68580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32A32"/>
                </a:solidFill>
              </a:defRPr>
            </a:pPr>
            <a:r>
              <a:t>1 branch / 4 elements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23360"/>
            <a:ext cx="5943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A32"/>
                </a:solidFill>
              </a:defRPr>
            </a:pPr>
            <a:r>
              <a:t>Higher factors reduce loop-control overhead further.</a:t>
            </a:r>
          </a:p>
          <a:p>
            <a:pPr>
              <a:spcAft>
                <a:spcPts val="800"/>
              </a:spcAft>
              <a:defRPr sz="1600">
                <a:solidFill>
                  <a:srgbClr val="232A32"/>
                </a:solidFill>
              </a:defRPr>
            </a:pPr>
            <a:r>
              <a:t>Higher factors also increase code size and resource requirements.</a:t>
            </a:r>
          </a:p>
          <a:p>
            <a:pPr>
              <a:spcAft>
                <a:spcPts val="800"/>
              </a:spcAft>
              <a:defRPr sz="1600">
                <a:solidFill>
                  <a:srgbClr val="232A32"/>
                </a:solidFill>
              </a:defRPr>
            </a:pPr>
            <a:r>
              <a:t>The largest factor is not necessarily the fastest.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9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16E"/>
                </a:solidFill>
              </a:defRPr>
            </a:pPr>
            <a:r>
              <a:t>5. BENEFITS OF LOOP UNROLLING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97280"/>
            <a:ext cx="4983480" cy="68580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1. Reduced loop-control overhead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4983480" cy="68580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2. Fewer branch instructions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39"/>
            <a:ext cx="4983480" cy="68580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3. Reduced branch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48839"/>
            <a:ext cx="4983480" cy="68580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4. Greater instruction-level parallelism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00400"/>
            <a:ext cx="4983480" cy="68580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5. Better pipeline utilization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00400"/>
            <a:ext cx="4983480" cy="68580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6. More compiler optimization opportunities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251959"/>
            <a:ext cx="4983480" cy="68580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7. Potentially lower execution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440680"/>
            <a:ext cx="8503920" cy="594360"/>
          </a:xfrm>
          <a:prstGeom prst="roundRect">
            <a:avLst/>
          </a:prstGeom>
          <a:solidFill>
            <a:srgbClr val="FFF5E1"/>
          </a:solidFill>
          <a:ln>
            <a:solidFill>
              <a:srgbClr val="E1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32A32"/>
                </a:solidFill>
              </a:defRPr>
            </a:pPr>
            <a:r>
              <a:t>LOAD → ADD → STORE  |  LOOP CONTROL OCCURS LESS OFTEN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9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16E"/>
                </a:solidFill>
              </a:defRPr>
            </a:pPr>
            <a:r>
              <a:t>6. DRAWBACKS AND TRADE-OFFS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2377440" cy="77724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A32"/>
                </a:solidFill>
              </a:defRPr>
            </a:pPr>
            <a:r>
              <a:t>CODE SIZE 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143000"/>
            <a:ext cx="2377440" cy="77724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A32"/>
                </a:solidFill>
              </a:defRPr>
            </a:pPr>
            <a:r>
              <a:t>REGISTER</a:t>
            </a:r>
            <a:br/>
            <a:r>
              <a:t>PRESSURE 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43000"/>
            <a:ext cx="2377440" cy="77724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A32"/>
                </a:solidFill>
              </a:defRPr>
            </a:pPr>
            <a:r>
              <a:t>I-CACHE</a:t>
            </a:r>
            <a:br/>
            <a:r>
              <a:t>PRESSURE 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143000"/>
            <a:ext cx="2377440" cy="777240"/>
          </a:xfrm>
          <a:prstGeom prst="roundRect">
            <a:avLst/>
          </a:prstGeom>
          <a:solidFill>
            <a:srgbClr val="FFEEEE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32A32"/>
                </a:solidFill>
              </a:defRPr>
            </a:pPr>
            <a:r>
              <a:t>DIMINISHING</a:t>
            </a:r>
            <a:br/>
            <a:r>
              <a:t>RETURNS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A32"/>
                </a:solidFill>
              </a:defRPr>
            </a:pPr>
            <a:r>
              <a:t>Duplicating the loop body creates more instructions and can increase instruction-cache pressure.</a:t>
            </a:r>
          </a:p>
          <a:p>
            <a:pPr>
              <a:spcAft>
                <a:spcPts val="800"/>
              </a:spcAft>
              <a:defRPr sz="1700">
                <a:solidFill>
                  <a:srgbClr val="232A32"/>
                </a:solidFill>
              </a:defRPr>
            </a:pPr>
            <a:r>
              <a:t>More values may need to remain in registers; insufficient registers can cause register spilling.</a:t>
            </a:r>
          </a:p>
          <a:p>
            <a:pPr>
              <a:spcAft>
                <a:spcPts val="800"/>
              </a:spcAft>
              <a:defRPr sz="1700">
                <a:solidFill>
                  <a:srgbClr val="232A32"/>
                </a:solidFill>
              </a:defRPr>
            </a:pPr>
            <a:r>
              <a:t>Larger unrolled loops can occupy more instruction-cache space and increase instruction-fetch delays.</a:t>
            </a:r>
          </a:p>
          <a:p>
            <a:pPr>
              <a:spcAft>
                <a:spcPts val="800"/>
              </a:spcAft>
              <a:defRPr sz="1700">
                <a:solidFill>
                  <a:srgbClr val="232A32"/>
                </a:solidFill>
              </a:defRPr>
            </a:pPr>
            <a:r>
              <a:t>Increasing the unrolling factor does not guarantee proportional performance improvement.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5166360"/>
            <a:ext cx="8321040" cy="685800"/>
          </a:xfrm>
          <a:prstGeom prst="roundRect">
            <a:avLst/>
          </a:prstGeom>
          <a:solidFill>
            <a:srgbClr val="FFEEEE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1">
                <a:solidFill>
                  <a:srgbClr val="232A32"/>
                </a:solidFill>
              </a:defRPr>
            </a:pPr>
            <a:r>
              <a:t>MORE UNROLLING ≠ ALWAYS MORE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9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16E"/>
                </a:solidFill>
              </a:defRPr>
            </a:pPr>
            <a:r>
              <a:t>7. FACTORS AFFECTING UNROLLING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88720"/>
            <a:ext cx="3200400" cy="59436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LOOP BODY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A32"/>
                </a:solidFill>
              </a:defRPr>
            </a:pPr>
            <a:r>
              <a:t>Size + complexity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188720"/>
            <a:ext cx="3200400" cy="59436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ITERATIONS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920240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A32"/>
                </a:solidFill>
              </a:defRPr>
            </a:pPr>
            <a:r>
              <a:t>Count + remainder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188720"/>
            <a:ext cx="3200400" cy="59436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920240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A32"/>
                </a:solidFill>
              </a:defRPr>
            </a:pPr>
            <a:r>
              <a:t>Availability + spills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00400"/>
            <a:ext cx="3200400" cy="59436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I-CACHE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31920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A32"/>
                </a:solidFill>
              </a:defRPr>
            </a:pPr>
            <a:r>
              <a:t>Capacity + behavior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200400"/>
            <a:ext cx="3200400" cy="59436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MEMORY 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931920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A32"/>
                </a:solidFill>
              </a:defRPr>
            </a:pPr>
            <a:r>
              <a:t>Loads, stores, branches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200400"/>
            <a:ext cx="3200400" cy="59436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MICROARCHITECTURE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931920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32A32"/>
                </a:solidFill>
              </a:defRPr>
            </a:pPr>
            <a:r>
              <a:t>Pipeline + issue width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5486400"/>
            <a:ext cx="8412480" cy="59436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32A32"/>
                </a:solidFill>
              </a:defRPr>
            </a:pPr>
            <a:r>
              <a:t>GOAL: BALANCE PERFORMANCE GAIN AGAINST RESOURCE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9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16E"/>
                </a:solidFill>
              </a:defRPr>
            </a:pPr>
            <a:r>
              <a:t>8. PERFORMANCE COMPARISON AND STRATEGY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97280"/>
            <a:ext cx="1554480" cy="502920"/>
          </a:xfrm>
          <a:prstGeom prst="roundRect">
            <a:avLst/>
          </a:prstGeom>
          <a:solidFill>
            <a:srgbClr val="19416E"/>
          </a:solidFill>
          <a:ln>
            <a:solidFill>
              <a:srgbClr val="19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Unrolling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21992" y="1097280"/>
            <a:ext cx="1920240" cy="502920"/>
          </a:xfrm>
          <a:prstGeom prst="roundRect">
            <a:avLst/>
          </a:prstGeom>
          <a:solidFill>
            <a:srgbClr val="19416E"/>
          </a:solidFill>
          <a:ln>
            <a:solidFill>
              <a:srgbClr val="19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Execution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15384" y="1097280"/>
            <a:ext cx="1920240" cy="502920"/>
          </a:xfrm>
          <a:prstGeom prst="roundRect">
            <a:avLst/>
          </a:prstGeom>
          <a:solidFill>
            <a:srgbClr val="19416E"/>
          </a:solidFill>
          <a:ln>
            <a:solidFill>
              <a:srgbClr val="19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Code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1097280"/>
            <a:ext cx="2194560" cy="502920"/>
          </a:xfrm>
          <a:prstGeom prst="roundRect">
            <a:avLst/>
          </a:prstGeom>
          <a:solidFill>
            <a:srgbClr val="19416E"/>
          </a:solidFill>
          <a:ln>
            <a:solidFill>
              <a:srgbClr val="19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Overall Result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19072"/>
            <a:ext cx="15544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1×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1992" y="1719072"/>
            <a:ext cx="1920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15384" y="1719072"/>
            <a:ext cx="1920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Small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719072"/>
            <a:ext cx="21945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77439"/>
            <a:ext cx="15544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2×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21992" y="2377439"/>
            <a:ext cx="1920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85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5384" y="2377439"/>
            <a:ext cx="1920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Moderate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2377439"/>
            <a:ext cx="21945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Improved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035808"/>
            <a:ext cx="1554480" cy="475488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4×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21992" y="3035808"/>
            <a:ext cx="1920240" cy="475488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72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15384" y="3035808"/>
            <a:ext cx="1920240" cy="475488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Larger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3035808"/>
            <a:ext cx="2194560" cy="475488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BEST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94176"/>
            <a:ext cx="15544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8×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21992" y="3694176"/>
            <a:ext cx="1920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75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15384" y="3694176"/>
            <a:ext cx="19202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Very large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3694176"/>
            <a:ext cx="21945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32A32"/>
                </a:solidFill>
              </a:defRPr>
            </a:pPr>
            <a:r>
              <a:t>Slightly worse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097280"/>
            <a:ext cx="2560320" cy="50292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EXECUTION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28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1828800"/>
            <a:ext cx="1828800" cy="256032"/>
          </a:xfrm>
          <a:prstGeom prst="rect">
            <a:avLst/>
          </a:prstGeom>
          <a:solidFill>
            <a:srgbClr val="36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07040" y="180136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5146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2×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2514600"/>
            <a:ext cx="1554480" cy="256032"/>
          </a:xfrm>
          <a:prstGeom prst="rect">
            <a:avLst/>
          </a:prstGeom>
          <a:solidFill>
            <a:srgbClr val="36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07040" y="248716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2004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4×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3200400"/>
            <a:ext cx="1316736" cy="256032"/>
          </a:xfrm>
          <a:prstGeom prst="rect">
            <a:avLst/>
          </a:prstGeom>
          <a:solidFill>
            <a:srgbClr val="37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07040" y="317296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8862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8×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3886200"/>
            <a:ext cx="1371600" cy="256032"/>
          </a:xfrm>
          <a:prstGeom prst="rect">
            <a:avLst/>
          </a:prstGeom>
          <a:solidFill>
            <a:srgbClr val="36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607040" y="385876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75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0" y="4800600"/>
            <a:ext cx="7132320" cy="64008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32A32"/>
                </a:solidFill>
              </a:defRPr>
            </a:pPr>
            <a:r>
              <a:t>RESULT: 4× IS THE SWEET SPOT IN THIS EXAMPLE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48840" y="5532120"/>
            <a:ext cx="78638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solidFill>
                  <a:srgbClr val="232A32"/>
                </a:solidFill>
              </a:defRPr>
            </a:pPr>
            <a:r>
              <a:t>Hypothetical comparison: the best factor depends on the loop and target processor.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9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16E"/>
                </a:solidFill>
              </a:defRPr>
            </a:pPr>
            <a:r>
              <a:t>9. LOGISIM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1143000" cy="64008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PC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08760" y="1280160"/>
            <a:ext cx="320040" cy="0"/>
          </a:xfrm>
          <a:prstGeom prst="line">
            <a:avLst/>
          </a:prstGeom>
          <a:ln w="25400">
            <a:solidFill>
              <a:srgbClr val="367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28800" y="960120"/>
            <a:ext cx="1143000" cy="64008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Instruction</a:t>
            </a:r>
            <a:br/>
            <a:r>
              <a:t>Memory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71800" y="1280160"/>
            <a:ext cx="365760" cy="0"/>
          </a:xfrm>
          <a:prstGeom prst="line">
            <a:avLst/>
          </a:prstGeom>
          <a:ln w="25400">
            <a:solidFill>
              <a:srgbClr val="367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37560" y="960120"/>
            <a:ext cx="1143000" cy="64008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Control</a:t>
            </a:r>
            <a:br/>
            <a:r>
              <a:t>Unit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80560" y="1280160"/>
            <a:ext cx="182880" cy="0"/>
          </a:xfrm>
          <a:prstGeom prst="line">
            <a:avLst/>
          </a:prstGeom>
          <a:ln w="25400">
            <a:solidFill>
              <a:srgbClr val="367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63440" y="960120"/>
            <a:ext cx="1143000" cy="64008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Register</a:t>
            </a:r>
            <a:br/>
            <a:r>
              <a:t>File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6440" y="1280160"/>
            <a:ext cx="182880" cy="0"/>
          </a:xfrm>
          <a:prstGeom prst="line">
            <a:avLst/>
          </a:prstGeom>
          <a:ln w="25400">
            <a:solidFill>
              <a:srgbClr val="367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89320" y="960120"/>
            <a:ext cx="1143000" cy="640080"/>
          </a:xfrm>
          <a:prstGeom prst="roundRect">
            <a:avLst/>
          </a:prstGeom>
          <a:solidFill>
            <a:srgbClr val="EBF4FD"/>
          </a:solidFill>
          <a:ln>
            <a:solidFill>
              <a:srgbClr val="E1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ALU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0" y="1280160"/>
            <a:ext cx="182880" cy="0"/>
          </a:xfrm>
          <a:prstGeom prst="line">
            <a:avLst/>
          </a:prstGeom>
          <a:ln w="25400">
            <a:solidFill>
              <a:srgbClr val="367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0" y="960120"/>
            <a:ext cx="1143000" cy="64008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Data</a:t>
            </a:r>
            <a:br/>
            <a:r>
              <a:t>Memory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58200" y="1280160"/>
            <a:ext cx="594360" cy="0"/>
          </a:xfrm>
          <a:prstGeom prst="line">
            <a:avLst/>
          </a:prstGeom>
          <a:ln w="25400">
            <a:solidFill>
              <a:srgbClr val="367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52560" y="960120"/>
            <a:ext cx="1143000" cy="64008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Write 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057400"/>
            <a:ext cx="2286000" cy="45720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4× UNROLLED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97480"/>
            <a:ext cx="5212080" cy="338328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solidFill>
                  <a:srgbClr val="232A32"/>
                </a:solidFill>
              </a:defRPr>
            </a:pPr>
            <a:r>
              <a:t>LOAD a[i] → ADD 1 → 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54680"/>
            <a:ext cx="5212080" cy="338328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solidFill>
                  <a:srgbClr val="232A32"/>
                </a:solidFill>
              </a:defRPr>
            </a:pPr>
            <a:r>
              <a:t>LOAD a[i+1] → ADD 1 → STORE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5212080" cy="338328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solidFill>
                  <a:srgbClr val="232A32"/>
                </a:solidFill>
              </a:defRPr>
            </a:pPr>
            <a:r>
              <a:t>LOAD a[i+2] → ADD 1 → STORE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69080"/>
            <a:ext cx="5212080" cy="338328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solidFill>
                  <a:srgbClr val="232A32"/>
                </a:solidFill>
              </a:defRPr>
            </a:pPr>
            <a:r>
              <a:t>LOAD a[i+3] → ADD 1 → STORE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26280"/>
            <a:ext cx="5212080" cy="338328"/>
          </a:xfrm>
          <a:prstGeom prst="roundRect">
            <a:avLst/>
          </a:prstGeom>
          <a:solidFill>
            <a:srgbClr val="FFF5E1"/>
          </a:solidFill>
          <a:ln>
            <a:solidFill>
              <a:srgbClr val="E1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i = i + 4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83480"/>
            <a:ext cx="5212080" cy="338328"/>
          </a:xfrm>
          <a:prstGeom prst="roundRect">
            <a:avLst/>
          </a:prstGeom>
          <a:solidFill>
            <a:srgbClr val="FFF5E1"/>
          </a:solidFill>
          <a:ln>
            <a:solidFill>
              <a:srgbClr val="E18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i &lt; n ?  YES → LOOP   |   NO → 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057400"/>
            <a:ext cx="2468880" cy="457200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A32"/>
                </a:solidFill>
              </a:defRPr>
            </a:pPr>
            <a:r>
              <a:t>LOGISIM COMPONENTS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697480"/>
            <a:ext cx="2926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A32"/>
                </a:solidFill>
              </a:defRPr>
            </a:pPr>
            <a:r>
              <a:t>Input Pins</a:t>
            </a:r>
          </a:p>
          <a:p>
            <a:pPr>
              <a:spcAft>
                <a:spcPts val="800"/>
              </a:spcAft>
              <a:defRPr sz="1400">
                <a:solidFill>
                  <a:srgbClr val="232A32"/>
                </a:solidFill>
              </a:defRPr>
            </a:pPr>
            <a:r>
              <a:t>Registers</a:t>
            </a:r>
          </a:p>
          <a:p>
            <a:pPr>
              <a:spcAft>
                <a:spcPts val="800"/>
              </a:spcAft>
              <a:defRPr sz="1400">
                <a:solidFill>
                  <a:srgbClr val="232A32"/>
                </a:solidFill>
              </a:defRPr>
            </a:pPr>
            <a:r>
              <a:t>Adders</a:t>
            </a:r>
          </a:p>
          <a:p>
            <a:pPr>
              <a:spcAft>
                <a:spcPts val="800"/>
              </a:spcAft>
              <a:defRPr sz="1400">
                <a:solidFill>
                  <a:srgbClr val="232A32"/>
                </a:solidFill>
              </a:defRPr>
            </a:pPr>
            <a:r>
              <a:t>Comparator</a:t>
            </a:r>
          </a:p>
          <a:p>
            <a:pPr>
              <a:spcAft>
                <a:spcPts val="800"/>
              </a:spcAft>
              <a:defRPr sz="1400">
                <a:solidFill>
                  <a:srgbClr val="232A32"/>
                </a:solidFill>
              </a:defRPr>
            </a:pPr>
            <a:r>
              <a:t>Multiplexer</a:t>
            </a:r>
          </a:p>
          <a:p>
            <a:pPr>
              <a:spcAft>
                <a:spcPts val="800"/>
              </a:spcAft>
              <a:defRPr sz="1400">
                <a:solidFill>
                  <a:srgbClr val="232A32"/>
                </a:solidFill>
              </a:defRPr>
            </a:pPr>
            <a:r>
              <a:t>RAM / ROM</a:t>
            </a:r>
          </a:p>
          <a:p>
            <a:pPr>
              <a:spcAft>
                <a:spcPts val="800"/>
              </a:spcAft>
              <a:defRPr sz="1400">
                <a:solidFill>
                  <a:srgbClr val="232A32"/>
                </a:solidFill>
              </a:defRPr>
            </a:pPr>
            <a:r>
              <a:t>Clock and Wires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166360"/>
            <a:ext cx="4937760" cy="68580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Demonstration: four useful operations are performed before loop-control and branch operations repeat.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9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16E"/>
                </a:solidFill>
              </a:defRPr>
            </a:pPr>
            <a:r>
              <a:t>10.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51560"/>
            <a:ext cx="2926080" cy="475488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More Unrolling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09928"/>
            <a:ext cx="2926080" cy="475488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Less Loop Overhead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68296"/>
            <a:ext cx="2926080" cy="475488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More Instruction-Level Parallelism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26664"/>
            <a:ext cx="2926080" cy="475488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BUT: Larger Code + More Resource Usage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85031"/>
            <a:ext cx="2926080" cy="475488"/>
          </a:xfrm>
          <a:prstGeom prst="roundRect">
            <a:avLst/>
          </a:prstGeom>
          <a:solidFill>
            <a:srgbClr val="EBF4FD"/>
          </a:solidFill>
          <a:ln>
            <a:solidFill>
              <a:srgbClr val="36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Possible Performance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05156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A32"/>
                </a:solidFill>
              </a:defRPr>
            </a:pPr>
            <a:r>
              <a:t>RISC-V provides an open-standard ISA for processor design.</a:t>
            </a:r>
          </a:p>
          <a:p>
            <a:pPr>
              <a:spcAft>
                <a:spcPts val="800"/>
              </a:spcAft>
              <a:defRPr sz="1500">
                <a:solidFill>
                  <a:srgbClr val="232A32"/>
                </a:solidFill>
              </a:defRPr>
            </a:pPr>
            <a:r>
              <a:t>Loop unrolling reduces the frequency of loop-control and branch instructions.</a:t>
            </a:r>
          </a:p>
          <a:p>
            <a:pPr>
              <a:spcAft>
                <a:spcPts val="800"/>
              </a:spcAft>
              <a:defRPr sz="1500">
                <a:solidFill>
                  <a:srgbClr val="232A32"/>
                </a:solidFill>
              </a:defRPr>
            </a:pPr>
            <a:r>
              <a:t>Unrolling can improve instruction-level parallelism and potentially reduce execution time.</a:t>
            </a:r>
          </a:p>
          <a:p>
            <a:pPr>
              <a:spcAft>
                <a:spcPts val="800"/>
              </a:spcAft>
              <a:defRPr sz="1500">
                <a:solidFill>
                  <a:srgbClr val="232A32"/>
                </a:solidFill>
              </a:defRPr>
            </a:pPr>
            <a:r>
              <a:t>Excessive unrolling can increase code size, register pressure, and instruction-cache pressure.</a:t>
            </a:r>
          </a:p>
          <a:p>
            <a:pPr>
              <a:spcAft>
                <a:spcPts val="800"/>
              </a:spcAft>
              <a:defRPr sz="1500">
                <a:solidFill>
                  <a:srgbClr val="232A32"/>
                </a:solidFill>
              </a:defRPr>
            </a:pPr>
            <a:r>
              <a:t>The optimal unrolling factor depends on the loop and the processor.</a:t>
            </a:r>
          </a:p>
          <a:p>
            <a:pPr>
              <a:spcAft>
                <a:spcPts val="800"/>
              </a:spcAft>
              <a:defRPr sz="1500">
                <a:solidFill>
                  <a:srgbClr val="232A32"/>
                </a:solidFill>
              </a:defRPr>
            </a:pPr>
            <a:r>
              <a:t>In the given example, 4× provides the best performance-versus-resource balance.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4983480"/>
            <a:ext cx="7223760" cy="731520"/>
          </a:xfrm>
          <a:prstGeom prst="roundRect">
            <a:avLst/>
          </a:prstGeom>
          <a:solidFill>
            <a:srgbClr val="EEF8F0"/>
          </a:solidFill>
          <a:ln>
            <a:solidFill>
              <a:srgbClr val="37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1">
                <a:solidFill>
                  <a:srgbClr val="232A32"/>
                </a:solidFill>
              </a:defRPr>
            </a:pPr>
            <a:r>
              <a:t>OPTIMAL LOOP UNROLLING IS A BALANCE, NOT A MAXIMUM.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8978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9416E"/>
                </a:solidFill>
              </a:defRPr>
            </a:pPr>
            <a:r>
              <a:t>THANK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9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0" y="665683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796</Words>
  <Application>Microsoft Office PowerPoint</Application>
  <PresentationFormat>Widescreen</PresentationFormat>
  <Paragraphs>165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parnitha369@outlook.com</cp:lastModifiedBy>
  <cp:revision>3</cp:revision>
  <dcterms:created xsi:type="dcterms:W3CDTF">2013-01-27T09:14:16Z</dcterms:created>
  <dcterms:modified xsi:type="dcterms:W3CDTF">2026-09-15T12:10:59Z</dcterms:modified>
  <cp:category/>
</cp:coreProperties>
</file>